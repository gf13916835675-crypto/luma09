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7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0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8686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上海交通大学“交我算”平台  —— 强大算力,赋能科研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>
                <a:solidFill>
                  <a:srgbClr val="F0C0C8"/>
                </a:solidFill>
                <a:latin typeface="微软雅黑"/>
                <a:ea typeface="微软雅黑"/>
              </a:rPr>
              <a:t>SJTU HPC &amp;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567" y="12344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2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567" y="1234440"/>
            <a:ext cx="109728" cy="1417320"/>
          </a:xfrm>
          <a:prstGeom prst="rect">
            <a:avLst/>
          </a:prstGeom>
          <a:solidFill>
            <a:srgbClr val="A7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887" y="1344168"/>
            <a:ext cx="3108960" cy="1197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A72038"/>
                </a:solidFill>
                <a:latin typeface="微软雅黑"/>
                <a:ea typeface="微软雅黑"/>
              </a:rPr>
              <a:t>320</a:t>
            </a:r>
            <a:r>
              <a:rPr sz="2000" b="1">
                <a:solidFill>
                  <a:srgbClr val="A72038"/>
                </a:solidFill>
                <a:latin typeface="微软雅黑"/>
                <a:ea typeface="微软雅黑"/>
              </a:rPr>
              <a:t> PFLOPS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总聚合算力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767" y="12344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4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2767" y="1234440"/>
            <a:ext cx="109728" cy="1417320"/>
          </a:xfrm>
          <a:prstGeom prst="rect">
            <a:avLst/>
          </a:prstGeom>
          <a:solidFill>
            <a:srgbClr val="00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7087" y="1344168"/>
            <a:ext cx="3108960" cy="1197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00457C"/>
                </a:solidFill>
                <a:latin typeface="微软雅黑"/>
                <a:ea typeface="微软雅黑"/>
              </a:rPr>
              <a:t>75</a:t>
            </a:r>
            <a:r>
              <a:rPr sz="2000" b="1">
                <a:solidFill>
                  <a:srgbClr val="00457C"/>
                </a:solidFill>
                <a:latin typeface="微软雅黑"/>
                <a:ea typeface="微软雅黑"/>
              </a:rPr>
              <a:t> PB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聚合存储能力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8967" y="12344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72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98967" y="1234440"/>
            <a:ext cx="109728" cy="1417320"/>
          </a:xfrm>
          <a:prstGeom prst="rect">
            <a:avLst/>
          </a:prstGeom>
          <a:solidFill>
            <a:srgbClr val="A7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3287" y="1344168"/>
            <a:ext cx="3108960" cy="1197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A72038"/>
                </a:solidFill>
                <a:latin typeface="微软雅黑"/>
                <a:ea typeface="微软雅黑"/>
              </a:rPr>
              <a:t>1024</a:t>
            </a:r>
            <a:r>
              <a:rPr sz="2000" b="1">
                <a:solidFill>
                  <a:srgbClr val="A72038"/>
                </a:solidFill>
                <a:latin typeface="微软雅黑"/>
                <a:ea typeface="微软雅黑"/>
              </a:rPr>
              <a:t> 张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昇腾910B 国产千卡智算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80360"/>
            <a:ext cx="5120640" cy="2331720"/>
          </a:xfrm>
          <a:prstGeom prst="rect">
            <a:avLst/>
          </a:prstGeom>
          <a:solidFill>
            <a:srgbClr val="F2F2F2"/>
          </a:solidFill>
          <a:ln w="12700">
            <a:solidFill>
              <a:srgbClr val="9B9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5120640" cy="2331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9B9B9B"/>
                </a:solidFill>
                <a:latin typeface="微软雅黑"/>
                <a:ea typeface="微软雅黑"/>
              </a:rPr>
              <a:t>【图片位置 1】</a:t>
            </a:r>
          </a:p>
          <a:p>
            <a:pPr algn="ctr"/>
            <a:r>
              <a:rPr sz="1200" b="0">
                <a:solidFill>
                  <a:srgbClr val="9B9B9B"/>
                </a:solidFill>
                <a:latin typeface="微软雅黑"/>
                <a:ea typeface="微软雅黑"/>
              </a:rPr>
              <a:t>机房 / 集群实拍图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008376"/>
            <a:ext cx="82296" cy="329184"/>
          </a:xfrm>
          <a:prstGeom prst="rect">
            <a:avLst/>
          </a:prstGeom>
          <a:solidFill>
            <a:srgbClr val="A7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2880360"/>
            <a:ext cx="5443423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A72038"/>
                </a:solidFill>
                <a:latin typeface="微软雅黑"/>
                <a:ea typeface="微软雅黑"/>
              </a:rPr>
              <a:t>致远一号  </a:t>
            </a: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FP16 313P · 国产千卡智算平台(2025)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591306"/>
            <a:ext cx="82296" cy="329184"/>
          </a:xfrm>
          <a:prstGeom prst="rect">
            <a:avLst/>
          </a:prstGeom>
          <a:solidFill>
            <a:srgbClr val="00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3463290"/>
            <a:ext cx="5443423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457C"/>
                </a:solidFill>
                <a:latin typeface="微软雅黑"/>
                <a:ea typeface="微软雅黑"/>
              </a:rPr>
              <a:t>思源一号  </a:t>
            </a: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6 PFLOPS · 高校第一 · TOP500 第132位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174236"/>
            <a:ext cx="82296" cy="329184"/>
          </a:xfrm>
          <a:prstGeom prst="rect">
            <a:avLst/>
          </a:prstGeom>
          <a:solidFill>
            <a:srgbClr val="A7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4046220"/>
            <a:ext cx="5443423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A72038"/>
                </a:solidFill>
                <a:latin typeface="微软雅黑"/>
                <a:ea typeface="微软雅黑"/>
              </a:rPr>
              <a:t>π 2.0  </a:t>
            </a: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2.1 PFLOPS · 26240 CPU 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757166"/>
            <a:ext cx="82296" cy="329184"/>
          </a:xfrm>
          <a:prstGeom prst="rect">
            <a:avLst/>
          </a:prstGeom>
          <a:solidFill>
            <a:srgbClr val="004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4629150"/>
            <a:ext cx="5443423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457C"/>
                </a:solidFill>
                <a:latin typeface="微软雅黑"/>
                <a:ea typeface="微软雅黑"/>
              </a:rPr>
              <a:t>ARM 平台  </a:t>
            </a: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国内高校首个国产 ARM 超算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40680"/>
            <a:ext cx="11094415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9B9B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40680"/>
            <a:ext cx="11094415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B9B9B"/>
                </a:solidFill>
                <a:latin typeface="微软雅黑"/>
                <a:ea typeface="微软雅黑"/>
              </a:rPr>
              <a:t>【图片位置 2】  集群网络拓扑图 / 平台架构图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