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学科布局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0"/>
            <a:ext cx="23774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>
                <a:solidFill>
                  <a:srgbClr val="F0C0C8"/>
                </a:solidFill>
                <a:latin typeface="微软雅黑"/>
                <a:ea typeface="微软雅黑"/>
              </a:rPr>
              <a:t>SJTU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867" y="128016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FAF7F7"/>
          </a:solidFill>
          <a:ln w="19050">
            <a:solidFill>
              <a:srgbClr val="A72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867" y="1325880"/>
            <a:ext cx="109728" cy="2377440"/>
          </a:xfrm>
          <a:prstGeom prst="rect">
            <a:avLst/>
          </a:prstGeom>
          <a:solidFill>
            <a:srgbClr val="A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0907" y="1481328"/>
            <a:ext cx="484632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72038"/>
                </a:solidFill>
                <a:latin typeface="微软雅黑"/>
                <a:ea typeface="微软雅黑"/>
              </a:rPr>
              <a:t>计算机科学与技术</a:t>
            </a:r>
          </a:p>
          <a:p>
            <a:pPr algn="ctr">
              <a:spcBef>
                <a:spcPts val="800"/>
              </a:spcBef>
            </a:pPr>
            <a:r>
              <a:rPr sz="1700" b="1">
                <a:solidFill>
                  <a:srgbClr val="333333"/>
                </a:solidFill>
                <a:latin typeface="微软雅黑"/>
                <a:ea typeface="微软雅黑"/>
              </a:rPr>
              <a:t>教育部第五轮学科评估  </a:t>
            </a:r>
            <a:r>
              <a:rPr sz="3400" b="1">
                <a:solidFill>
                  <a:srgbClr val="A72038"/>
                </a:solidFill>
                <a:latin typeface="微软雅黑"/>
                <a:ea typeface="微软雅黑"/>
              </a:rPr>
              <a:t>A+</a:t>
            </a:r>
          </a:p>
          <a:p>
            <a:pPr algn="ctr">
              <a:spcBef>
                <a:spcPts val="1000"/>
              </a:spcBef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首批国家一级重点学科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首批国家一流学科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FAF7F7"/>
          </a:solidFill>
          <a:ln w="19050">
            <a:solidFill>
              <a:srgbClr val="00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5867" y="1325880"/>
            <a:ext cx="109728" cy="2377440"/>
          </a:xfrm>
          <a:prstGeom prst="rect">
            <a:avLst/>
          </a:prstGeom>
          <a:solidFill>
            <a:srgbClr val="00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5907" y="1481328"/>
            <a:ext cx="484632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457C"/>
                </a:solidFill>
                <a:latin typeface="微软雅黑"/>
                <a:ea typeface="微软雅黑"/>
              </a:rPr>
              <a:t>网络空间安全</a:t>
            </a:r>
          </a:p>
          <a:p>
            <a:pPr algn="ctr">
              <a:spcBef>
                <a:spcPts val="800"/>
              </a:spcBef>
            </a:pPr>
            <a:r>
              <a:rPr sz="2600" b="1">
                <a:solidFill>
                  <a:srgbClr val="00457C"/>
                </a:solidFill>
                <a:latin typeface="微软雅黑"/>
                <a:ea typeface="微软雅黑"/>
              </a:rPr>
              <a:t>国家一级学科</a:t>
            </a:r>
          </a:p>
          <a:p>
            <a:pPr algn="ctr">
              <a:spcBef>
                <a:spcPts val="1000"/>
              </a:spcBef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两次入选“一流网络安全学院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建设示范项目”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575" y="4069080"/>
            <a:ext cx="26517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0575" y="4069080"/>
            <a:ext cx="2651760" cy="502920"/>
          </a:xfrm>
          <a:prstGeom prst="rect">
            <a:avLst/>
          </a:prstGeom>
          <a:solidFill>
            <a:srgbClr val="00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575" y="4069080"/>
            <a:ext cx="2651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QS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" y="4645152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微软雅黑"/>
                <a:ea typeface="微软雅黑"/>
              </a:rPr>
              <a:t>2025 年学科排名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全球第</a:t>
            </a:r>
            <a:r>
              <a:rPr sz="3000" b="1">
                <a:solidFill>
                  <a:srgbClr val="00457C"/>
                </a:solidFill>
                <a:latin typeface="微软雅黑"/>
                <a:ea typeface="微软雅黑"/>
              </a:rPr>
              <a:t>20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全国第</a:t>
            </a:r>
            <a:r>
              <a:rPr sz="3000" b="1">
                <a:solidFill>
                  <a:srgbClr val="00457C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3503" y="4069080"/>
            <a:ext cx="26517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72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43503" y="4069080"/>
            <a:ext cx="2651760" cy="502920"/>
          </a:xfrm>
          <a:prstGeom prst="rect">
            <a:avLst/>
          </a:prstGeom>
          <a:solidFill>
            <a:srgbClr val="A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3503" y="4069080"/>
            <a:ext cx="2651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U.S. News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0663" y="4645152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微软雅黑"/>
                <a:ea typeface="微软雅黑"/>
              </a:rPr>
              <a:t>2025 年学科排名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全球第</a:t>
            </a:r>
            <a:r>
              <a:rPr sz="3000" b="1">
                <a:solidFill>
                  <a:srgbClr val="A72038"/>
                </a:solidFill>
                <a:latin typeface="微软雅黑"/>
                <a:ea typeface="微软雅黑"/>
              </a:rPr>
              <a:t>6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全国第</a:t>
            </a:r>
            <a:r>
              <a:rPr sz="3000" b="1">
                <a:solidFill>
                  <a:srgbClr val="A72038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6431" y="4069080"/>
            <a:ext cx="26517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6431" y="4069080"/>
            <a:ext cx="2651760" cy="502920"/>
          </a:xfrm>
          <a:prstGeom prst="rect">
            <a:avLst/>
          </a:prstGeom>
          <a:solidFill>
            <a:srgbClr val="00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6431" y="4069080"/>
            <a:ext cx="2651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CSRankings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591" y="4645152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微软雅黑"/>
                <a:ea typeface="微软雅黑"/>
              </a:rPr>
              <a:t>2025 年学科排名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全球第</a:t>
            </a:r>
            <a:r>
              <a:rPr sz="3000" b="1">
                <a:solidFill>
                  <a:srgbClr val="00457C"/>
                </a:solidFill>
                <a:latin typeface="微软雅黑"/>
                <a:ea typeface="微软雅黑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全国第</a:t>
            </a:r>
            <a:r>
              <a:rPr sz="3000" b="1">
                <a:solidFill>
                  <a:srgbClr val="00457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9359" y="4069080"/>
            <a:ext cx="26517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72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9359" y="4069080"/>
            <a:ext cx="2651760" cy="502920"/>
          </a:xfrm>
          <a:prstGeom prst="rect">
            <a:avLst/>
          </a:prstGeom>
          <a:solidFill>
            <a:srgbClr val="A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49359" y="4069080"/>
            <a:ext cx="2651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ESI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6519" y="4645152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微软雅黑"/>
                <a:ea typeface="微软雅黑"/>
              </a:rPr>
              <a:t>2025 年学科排名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全球第</a:t>
            </a:r>
            <a:r>
              <a:rPr sz="3000" b="1">
                <a:solidFill>
                  <a:srgbClr val="A72038"/>
                </a:solidFill>
                <a:latin typeface="微软雅黑"/>
                <a:ea typeface="微软雅黑"/>
              </a:rPr>
              <a:t>16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全球排名 前</a:t>
            </a:r>
            <a:r>
              <a:rPr sz="3000" b="1">
                <a:solidFill>
                  <a:srgbClr val="A72038"/>
                </a:solidFill>
                <a:latin typeface="微软雅黑"/>
                <a:ea typeface="微软雅黑"/>
              </a:rPr>
              <a:t>1‰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